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  <a:latin typeface="Arial"/>
              </a:defRPr>
            </a:pPr>
            <a:r>
              <a:t>MainCrafts Technology | AI &amp; ML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  <a:latin typeface="Arial"/>
              </a:defRPr>
            </a:pPr>
            <a:r>
              <a:t>House Price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66CC"/>
                </a:solidFill>
              </a:defRPr>
            </a:pPr>
            <a:r>
              <a:t>🤖 AI   |   🧠 Machine Learning   |   🐍 Python   |   📊 Data Science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000">
                <a:solidFill>
                  <a:srgbClr val="323232"/>
                </a:solidFill>
                <a:latin typeface="Arial"/>
              </a:defRPr>
            </a:pPr>
            <a:r>
              <a:t>Prepared by: Shankramma Baganal</a:t>
            </a:r>
          </a:p>
          <a:p>
            <a:pPr algn="ctr">
              <a:spcAft>
                <a:spcPts val="1000"/>
              </a:spcAft>
              <a:defRPr sz="2000">
                <a:solidFill>
                  <a:srgbClr val="323232"/>
                </a:solidFill>
                <a:latin typeface="Arial"/>
              </a:defRPr>
            </a:pPr>
            <a:r>
              <a:t>Department of Information Science &amp; Engineering</a:t>
            </a:r>
          </a:p>
          <a:p>
            <a:pPr algn="ctr">
              <a:spcAft>
                <a:spcPts val="1000"/>
              </a:spcAft>
              <a:defRPr sz="2000">
                <a:solidFill>
                  <a:srgbClr val="323232"/>
                </a:solidFill>
                <a:latin typeface="Arial"/>
              </a:defRPr>
            </a:pPr>
            <a:r>
              <a:t>SDM College of Engineering and Technology, Dharwad</a:t>
            </a:r>
          </a:p>
          <a:p>
            <a:pPr algn="ctr">
              <a:spcAft>
                <a:spcPts val="1000"/>
              </a:spcAft>
              <a:defRPr sz="2000">
                <a:solidFill>
                  <a:srgbClr val="323232"/>
                </a:solidFill>
                <a:latin typeface="Arial"/>
              </a:defRPr>
            </a:pPr>
            <a:r>
              <a:t>AI &amp; ML Internship – MainCrafts Technology</a:t>
            </a:r>
          </a:p>
          <a:p>
            <a:pPr algn="ctr">
              <a:spcAft>
                <a:spcPts val="1000"/>
              </a:spcAft>
              <a:defRPr sz="2000">
                <a:solidFill>
                  <a:srgbClr val="323232"/>
                </a:solidFill>
                <a:latin typeface="Arial"/>
              </a:defRPr>
            </a:pPr>
            <a:r>
              <a:t>Submission Date: July 2026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003366"/>
                </a:solidFill>
              </a:defRPr>
            </a:pPr>
            <a:r>
              <a:t>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  <a:latin typeface="Arial"/>
              </a:defRPr>
            </a:pPr>
            <a:r>
              <a:t>MainCrafts Technology | AI &amp; ML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2286000"/>
          <a:ext cx="6400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</a:tblGrid>
              <a:tr h="5334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</a:rPr>
                        <a:t>Property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</a:rPr>
                        <a:t>Details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</a:rPr>
                        <a:t>Dataset Name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</a:rPr>
                        <a:t>California Housing Dataset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</a:rPr>
                        <a:t>Scikit-Learn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</a:rPr>
                        <a:t>Number of Samples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</a:rPr>
                        <a:t>20,640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</a:rPr>
                        <a:t>Number of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</a:rPr>
                        <a:t>Target Variable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</a:rPr>
                        <a:t>Median House Value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003366"/>
                </a:solidFill>
              </a:defRPr>
            </a:pPr>
            <a:r>
              <a:t>Machine Learning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  <a:latin typeface="Arial"/>
              </a:defRPr>
            </a:pPr>
            <a:r>
              <a:t>MainCrafts Technology | AI &amp; ML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645920"/>
            <a:ext cx="2743200" cy="365760"/>
          </a:xfrm>
          <a:prstGeom prst="round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Dataset</a:t>
            </a:r>
          </a:p>
        </p:txBody>
      </p:sp>
      <p:sp>
        <p:nvSpPr>
          <p:cNvPr id="7" name="Down Arrow 6"/>
          <p:cNvSpPr/>
          <p:nvPr/>
        </p:nvSpPr>
        <p:spPr>
          <a:xfrm>
            <a:off x="4480560" y="2029968"/>
            <a:ext cx="182880" cy="182880"/>
          </a:xfrm>
          <a:prstGeom prst="downArrow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0" y="2240280"/>
            <a:ext cx="2743200" cy="365760"/>
          </a:xfrm>
          <a:prstGeom prst="round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Data Preprocessing</a:t>
            </a:r>
          </a:p>
        </p:txBody>
      </p:sp>
      <p:sp>
        <p:nvSpPr>
          <p:cNvPr id="9" name="Down Arrow 8"/>
          <p:cNvSpPr/>
          <p:nvPr/>
        </p:nvSpPr>
        <p:spPr>
          <a:xfrm>
            <a:off x="4480560" y="2624328"/>
            <a:ext cx="182880" cy="182880"/>
          </a:xfrm>
          <a:prstGeom prst="downArrow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2834640"/>
            <a:ext cx="2743200" cy="365760"/>
          </a:xfrm>
          <a:prstGeom prst="round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EDA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480560" y="3218688"/>
            <a:ext cx="182880" cy="182880"/>
          </a:xfrm>
          <a:prstGeom prst="downArrow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0400" y="3429000"/>
            <a:ext cx="2743200" cy="365760"/>
          </a:xfrm>
          <a:prstGeom prst="round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Train-Test Split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480560" y="3813048"/>
            <a:ext cx="182880" cy="182880"/>
          </a:xfrm>
          <a:prstGeom prst="downArrow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0400" y="4023360"/>
            <a:ext cx="2743200" cy="365760"/>
          </a:xfrm>
          <a:prstGeom prst="round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Linear Regression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480560" y="4407408"/>
            <a:ext cx="182880" cy="182880"/>
          </a:xfrm>
          <a:prstGeom prst="downArrow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0" y="4617720"/>
            <a:ext cx="2743200" cy="365760"/>
          </a:xfrm>
          <a:prstGeom prst="round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Prediction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4480560" y="5001768"/>
            <a:ext cx="182880" cy="182880"/>
          </a:xfrm>
          <a:prstGeom prst="downArrow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00400" y="5212080"/>
            <a:ext cx="2743200" cy="365760"/>
          </a:xfrm>
          <a:prstGeom prst="roundRect">
            <a:avLst/>
          </a:prstGeom>
          <a:solidFill>
            <a:srgbClr val="00336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Evaluation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003366"/>
                </a:solidFill>
              </a:defRPr>
            </a:pPr>
            <a:r>
              <a:t>Exploratory Data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  <a:latin typeface="Arial"/>
              </a:defRPr>
            </a:pPr>
            <a:r>
              <a:t>MainCrafts Technology | AI &amp; ML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pic>
        <p:nvPicPr>
          <p:cNvPr id="6" name="Picture 5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400800" cy="51206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003366"/>
                </a:solidFill>
              </a:defRPr>
            </a:pPr>
            <a:r>
              <a:t>Model Evaluation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  <a:latin typeface="Arial"/>
              </a:defRPr>
            </a:pPr>
            <a:r>
              <a:t>MainCrafts Technology | AI &amp; ML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  <a:latin typeface="Arial"/>
              </a:defRPr>
            </a:pPr>
            <a: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2286000"/>
          <a:ext cx="6400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</a:rPr>
                        <a:t>Mean Absolute Error (MAE)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</a:rPr>
                        <a:t>0.5332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</a:rPr>
                        <a:t>Mean Squared Error (MSE)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</a:rPr>
                        <a:t>0.5559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</a:rPr>
                        <a:t>Root Mean Sq. Error (RMSE)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</a:rPr>
                        <a:t>0.7456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</a:rPr>
                        <a:t>R-squared (R²)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  <a:latin typeface="Arial"/>
                        </a:rPr>
                        <a:t>0.5758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003366"/>
                </a:solidFill>
              </a:defRPr>
            </a:pPr>
            <a:r>
              <a:t>Results: Actual vs Predicted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  <a:latin typeface="Arial"/>
              </a:defRPr>
            </a:pPr>
            <a:r>
              <a:t>MainCrafts Technology | AI &amp; ML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54864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669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003366"/>
                </a:solidFill>
              </a:defRPr>
            </a:pPr>
            <a:r>
              <a:t>Observation: The model predictions align closely with actual prices along the diagonal, demonstrating reasonable accuracy, though some variance exists for extreme values.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003366"/>
                </a:solidFill>
              </a:defRPr>
            </a:pPr>
            <a:r>
              <a:t>Conclusion &amp; Key Learning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  <a:latin typeface="Arial"/>
              </a:defRPr>
            </a:pPr>
            <a:r>
              <a:t>MainCrafts Technology | AI &amp; ML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323232"/>
                </a:solidFill>
                <a:latin typeface="Arial"/>
              </a:defRPr>
            </a:pPr>
            <a:r>
              <a:t>1. Successfully developed an end-to-end Machine Learning pipeline.</a:t>
            </a:r>
          </a:p>
          <a:p>
            <a:pPr>
              <a:spcAft>
                <a:spcPts val="1500"/>
              </a:spcAft>
              <a:defRPr sz="2000">
                <a:solidFill>
                  <a:srgbClr val="323232"/>
                </a:solidFill>
                <a:latin typeface="Arial"/>
              </a:defRPr>
            </a:pPr>
            <a:r>
              <a:t>2. Gained practical experience in Exploratory Data Analysis (EDA).</a:t>
            </a:r>
          </a:p>
          <a:p>
            <a:pPr>
              <a:spcAft>
                <a:spcPts val="1500"/>
              </a:spcAft>
              <a:defRPr sz="2000">
                <a:solidFill>
                  <a:srgbClr val="323232"/>
                </a:solidFill>
                <a:latin typeface="Arial"/>
              </a:defRPr>
            </a:pPr>
            <a:r>
              <a:t>3. Implemented and evaluated a Multiple Linear Regression model using Scikit-Learn.</a:t>
            </a:r>
          </a:p>
          <a:p>
            <a:pPr>
              <a:spcAft>
                <a:spcPts val="1500"/>
              </a:spcAft>
              <a:defRPr sz="2000">
                <a:solidFill>
                  <a:srgbClr val="323232"/>
                </a:solidFill>
                <a:latin typeface="Arial"/>
              </a:defRPr>
            </a:pPr>
            <a:r>
              <a:t>4. Understood the impact of regression evaluation metrics (MAE, MSE, RMSE, R²).</a:t>
            </a:r>
          </a:p>
          <a:p>
            <a:pPr>
              <a:spcAft>
                <a:spcPts val="1500"/>
              </a:spcAft>
              <a:defRPr sz="2000">
                <a:solidFill>
                  <a:srgbClr val="323232"/>
                </a:solidFill>
                <a:latin typeface="Arial"/>
              </a:defRPr>
            </a:pPr>
            <a:r>
              <a:t>5. Improved skills in visualizing data insights and model predictions.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